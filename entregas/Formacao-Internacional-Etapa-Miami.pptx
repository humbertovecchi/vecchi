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703f527-249d-9391-5757-e5811d98b017}">
          <p14:sldIdLst>
            <p14:sldId id="256"/>
            <p14:sldId id="257"/>
            <p14:sldId id="258"/>
            <p14:sldId id="259"/>
          </p14:sldIdLst>
        </p14:section>
        <p14:section name="A etapa" id="{1cff00fc-4305-e9bb-f7a6-fc5450c1ffb7}">
          <p14:sldIdLst>
            <p14:sldId id="260"/>
            <p14:sldId id="261"/>
            <p14:sldId id="262"/>
          </p14:sldIdLst>
        </p14:section>
        <p14:section name="Pessoas" id="{b75e1110-f20d-69b0-258f-8455dc3c4e00}">
          <p14:sldIdLst>
            <p14:sldId id="263"/>
            <p14:sldId id="264"/>
            <p14:sldId id="265"/>
          </p14:sldIdLst>
        </p14:section>
        <p14:section name="Inscrição" id="{24ab5d15-e239-1560-0baf-17a010b17d51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vídeo. Depois de inserir: aba Reprodução &gt; Iniciar: Automaticamente. Para vídeo de fundo sem som, marque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Fale da segurança: entender a anatomia na peça real antes de aplicar no paciente. Se tiver os dados, cite o nome do laboratório, o tipo de specimen e quantos alunos por peça.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VR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NH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a.me/5562985150061?text=Ol%C3%A1%2C%20quero%20saber%20mais%20do%20Programa%20de%20Forma%C3%A7%C3%A3o%20Internacional" TargetMode="External"/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2" Type="http://schemas.openxmlformats.org/officeDocument/2006/relationships/image" Target="../media/image-11-1.png"/><Relationship Id="rId4" Type="http://schemas.openxmlformats.org/officeDocument/2006/relationships/image" Target="../media/image-11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 prédio" descr="Fachada de prédio com colunas, à no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scurecer 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34440"/>
            <a:ext cx="4480560" cy="2990088"/>
          </a:xfrm>
          <a:prstGeom prst="rect">
            <a:avLst/>
          </a:prstGeom>
        </p:spPr>
      </p:pic>
      <p:pic>
        <p:nvPicPr>
          <p:cNvPr id="5" name="Foto prática" descr="Profissional de touca e avental durante prática em laboratório de anatom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46120"/>
            <a:ext cx="3090672" cy="3611880"/>
          </a:xfrm>
          <a:prstGeom prst="rect">
            <a:avLst/>
          </a:prstGeom>
        </p:spPr>
      </p:pic>
      <p:sp>
        <p:nvSpPr>
          <p:cNvPr id="6" name="Pré-título"/>
          <p:cNvSpPr txBox="1"/>
          <p:nvPr/>
        </p:nvSpPr>
        <p:spPr>
          <a:xfrm>
            <a:off x="731520" y="777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600" kern="0" dirty="0">
                <a:solidFill>
                  <a:srgbClr val="F3EEE6"/>
                </a:solidFill>
              </a:rPr>
              <a:t>Visão do Projeto</a:t>
            </a:r>
            <a:endParaRPr lang="en-US" sz="2200" dirty="0"/>
          </a:p>
        </p:txBody>
      </p:sp>
      <p:sp>
        <p:nvSpPr>
          <p:cNvPr id="7" name="Título"/>
          <p:cNvSpPr txBox="1"/>
          <p:nvPr/>
        </p:nvSpPr>
        <p:spPr>
          <a:xfrm>
            <a:off x="73152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spc="200" kern="0" dirty="0">
                <a:solidFill>
                  <a:srgbClr val="F3EEE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INTERNACIONAL</a:t>
            </a:r>
            <a:endParaRPr lang="en-US" sz="6000" dirty="0"/>
          </a:p>
        </p:txBody>
      </p:sp>
      <p:sp>
        <p:nvSpPr>
          <p:cNvPr id="8" name="Objetivo"/>
          <p:cNvSpPr txBox="1"/>
          <p:nvPr/>
        </p:nvSpPr>
        <p:spPr>
          <a:xfrm>
            <a:off x="73152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Formar profissionais completos, capazes de:</a:t>
            </a:r>
            <a:endParaRPr lang="en-US" sz="2000" dirty="0"/>
          </a:p>
        </p:txBody>
      </p:sp>
      <p:sp>
        <p:nvSpPr>
          <p:cNvPr id="9" name="Lista visão"/>
          <p:cNvSpPr txBox="1"/>
          <p:nvPr/>
        </p:nvSpPr>
        <p:spPr>
          <a:xfrm>
            <a:off x="1005840" y="3429000"/>
            <a:ext cx="7589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Compreender profundamente a anatomia aplicada à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Atuar com segurança em procedimentos avançados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Integrar ciência, técnica e raciocínio clínico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Desenvolver pensamento crítico e responsabilidade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Ampliar sua visão profissional em um contexto internacional</a:t>
            </a:r>
            <a:endParaRPr lang="en-US" sz="18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188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Programa de Formação Internacional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745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chemeClr val="accent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</a:t>
            </a:r>
            <a:endParaRPr lang="en-US" sz="340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23774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10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700" dirty="0"/>
          </a:p>
        </p:txBody>
      </p:sp>
      <p:sp>
        <p:nvSpPr>
          <p:cNvPr id="7" name="Fio"/>
          <p:cNvSpPr/>
          <p:nvPr/>
        </p:nvSpPr>
        <p:spPr>
          <a:xfrm>
            <a:off x="731520" y="507492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8" name="Data"/>
          <p:cNvSpPr txBox="1"/>
          <p:nvPr/>
        </p:nvSpPr>
        <p:spPr>
          <a:xfrm>
            <a:off x="731520" y="5257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Área do vídeo"/>
          <p:cNvSpPr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4" name="Instrução do vídeo"/>
          <p:cNvSpPr txBox="1"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Insira aqui o vídeo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400" dirty="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Por que Miami?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Porque lá a anatomia sai do livro e vai para a peça anatômica real.</a:t>
            </a:r>
            <a:endParaRPr lang="en-US" sz="1800" dirty="0"/>
          </a:p>
        </p:txBody>
      </p:sp>
      <p:sp>
        <p:nvSpPr>
          <p:cNvPr id="4" name="Cartão No Brasil"/>
          <p:cNvSpPr/>
          <p:nvPr/>
        </p:nvSpPr>
        <p:spPr>
          <a:xfrm>
            <a:off x="731520" y="2423160"/>
            <a:ext cx="5239512" cy="3749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No Brasil título"/>
          <p:cNvSpPr txBox="1"/>
          <p:nvPr/>
        </p:nvSpPr>
        <p:spPr>
          <a:xfrm>
            <a:off x="11887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Brasil</a:t>
            </a:r>
            <a:endParaRPr lang="en-US" sz="3600" dirty="0"/>
          </a:p>
        </p:txBody>
      </p:sp>
      <p:sp>
        <p:nvSpPr>
          <p:cNvPr id="6" name="No Brasil fio 1"/>
          <p:cNvSpPr/>
          <p:nvPr/>
        </p:nvSpPr>
        <p:spPr>
          <a:xfrm>
            <a:off x="1188720" y="361188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No Brasil item 1"/>
          <p:cNvSpPr txBox="1"/>
          <p:nvPr/>
        </p:nvSpPr>
        <p:spPr>
          <a:xfrm>
            <a:off x="11887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Anatomia estudada em atlas, vídeos e modelos sintéticos</a:t>
            </a:r>
            <a:endParaRPr lang="en-US" sz="1500" dirty="0"/>
          </a:p>
        </p:txBody>
      </p:sp>
      <p:sp>
        <p:nvSpPr>
          <p:cNvPr id="8" name="No Brasil fio 2"/>
          <p:cNvSpPr/>
          <p:nvPr/>
        </p:nvSpPr>
        <p:spPr>
          <a:xfrm>
            <a:off x="1188720" y="443484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No Brasil item 2"/>
          <p:cNvSpPr txBox="1"/>
          <p:nvPr/>
        </p:nvSpPr>
        <p:spPr>
          <a:xfrm>
            <a:off x="11887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Acesso a peças anatômicas restrito, em geral, às universidades</a:t>
            </a:r>
            <a:endParaRPr lang="en-US" sz="1500" dirty="0"/>
          </a:p>
        </p:txBody>
      </p:sp>
      <p:sp>
        <p:nvSpPr>
          <p:cNvPr id="10" name="No Brasil fio 3"/>
          <p:cNvSpPr/>
          <p:nvPr/>
        </p:nvSpPr>
        <p:spPr>
          <a:xfrm>
            <a:off x="1188720" y="525780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No Brasil item 3"/>
          <p:cNvSpPr txBox="1"/>
          <p:nvPr/>
        </p:nvSpPr>
        <p:spPr>
          <a:xfrm>
            <a:off x="11887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 primeira prática costuma ser direto no paciente</a:t>
            </a:r>
            <a:endParaRPr lang="en-US" sz="1500" dirty="0"/>
          </a:p>
        </p:txBody>
      </p:sp>
      <p:sp>
        <p:nvSpPr>
          <p:cNvPr id="12" name="Cartão Em Miami"/>
          <p:cNvSpPr/>
          <p:nvPr/>
        </p:nvSpPr>
        <p:spPr>
          <a:xfrm>
            <a:off x="6217920" y="2423160"/>
            <a:ext cx="5239512" cy="3749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Em Miami título"/>
          <p:cNvSpPr txBox="1"/>
          <p:nvPr/>
        </p:nvSpPr>
        <p:spPr>
          <a:xfrm>
            <a:off x="66751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Em Miami</a:t>
            </a:r>
            <a:endParaRPr lang="en-US" sz="3600" dirty="0"/>
          </a:p>
        </p:txBody>
      </p:sp>
      <p:sp>
        <p:nvSpPr>
          <p:cNvPr id="14" name="Em Miami fio 1"/>
          <p:cNvSpPr/>
          <p:nvPr/>
        </p:nvSpPr>
        <p:spPr>
          <a:xfrm>
            <a:off x="6675120" y="361188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Em Miami item 1"/>
          <p:cNvSpPr txBox="1"/>
          <p:nvPr/>
        </p:nvSpPr>
        <p:spPr>
          <a:xfrm>
            <a:off x="66751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Hands-on em specimen, a peça anatômica real</a:t>
            </a:r>
            <a:endParaRPr lang="en-US" sz="1500" dirty="0"/>
          </a:p>
        </p:txBody>
      </p:sp>
      <p:sp>
        <p:nvSpPr>
          <p:cNvPr id="16" name="Em Miami fio 2"/>
          <p:cNvSpPr/>
          <p:nvPr/>
        </p:nvSpPr>
        <p:spPr>
          <a:xfrm>
            <a:off x="6675120" y="443484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Em Miami item 2"/>
          <p:cNvSpPr txBox="1"/>
          <p:nvPr/>
        </p:nvSpPr>
        <p:spPr>
          <a:xfrm>
            <a:off x="66751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Laboratório privado com estrutura para treinamento avançado</a:t>
            </a:r>
            <a:endParaRPr lang="en-US" sz="1500" dirty="0"/>
          </a:p>
        </p:txBody>
      </p:sp>
      <p:sp>
        <p:nvSpPr>
          <p:cNvPr id="18" name="Em Miami fio 3"/>
          <p:cNvSpPr/>
          <p:nvPr/>
        </p:nvSpPr>
        <p:spPr>
          <a:xfrm>
            <a:off x="6675120" y="525780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Em Miami item 3"/>
          <p:cNvSpPr txBox="1"/>
          <p:nvPr/>
        </p:nvSpPr>
        <p:spPr>
          <a:xfrm>
            <a:off x="66751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Você vê planos, vasos e áreas de risco antes de tocar no paciente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Programação prática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Anatomia aplicada e hands-on</a:t>
            </a:r>
            <a:endParaRPr lang="en-US" sz="1600" dirty="0"/>
          </a:p>
        </p:txBody>
      </p:sp>
      <p:sp>
        <p:nvSpPr>
          <p:cNvPr id="4" name="Fio 1"/>
          <p:cNvSpPr/>
          <p:nvPr/>
        </p:nvSpPr>
        <p:spPr>
          <a:xfrm>
            <a:off x="731520" y="233172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5" name="Módulo 1"/>
          <p:cNvSpPr txBox="1"/>
          <p:nvPr/>
        </p:nvSpPr>
        <p:spPr>
          <a:xfrm>
            <a:off x="731520" y="245973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injetáveis</a:t>
            </a:r>
            <a:endParaRPr lang="en-US" sz="2400" dirty="0"/>
          </a:p>
        </p:txBody>
      </p:sp>
      <p:sp>
        <p:nvSpPr>
          <p:cNvPr id="6" name="Fio 2"/>
          <p:cNvSpPr/>
          <p:nvPr/>
        </p:nvSpPr>
        <p:spPr>
          <a:xfrm>
            <a:off x="731520" y="3118104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Módulo 2"/>
          <p:cNvSpPr txBox="1"/>
          <p:nvPr/>
        </p:nvSpPr>
        <p:spPr>
          <a:xfrm>
            <a:off x="731520" y="3246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fios faciais</a:t>
            </a:r>
            <a:endParaRPr lang="en-US" sz="2400" dirty="0"/>
          </a:p>
        </p:txBody>
      </p:sp>
      <p:sp>
        <p:nvSpPr>
          <p:cNvPr id="8" name="Fio 3"/>
          <p:cNvSpPr/>
          <p:nvPr/>
        </p:nvSpPr>
        <p:spPr>
          <a:xfrm>
            <a:off x="731520" y="3904488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Módulo 3"/>
          <p:cNvSpPr txBox="1"/>
          <p:nvPr/>
        </p:nvSpPr>
        <p:spPr>
          <a:xfrm>
            <a:off x="731520" y="403250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Bioestimuladores faciais e corporais: fundamentos, indicações e limites</a:t>
            </a:r>
            <a:endParaRPr lang="en-US" sz="2400" dirty="0"/>
          </a:p>
        </p:txBody>
      </p:sp>
      <p:sp>
        <p:nvSpPr>
          <p:cNvPr id="10" name="Fio 4"/>
          <p:cNvSpPr/>
          <p:nvPr/>
        </p:nvSpPr>
        <p:spPr>
          <a:xfrm>
            <a:off x="731520" y="4690872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Módulo 4"/>
          <p:cNvSpPr txBox="1"/>
          <p:nvPr/>
        </p:nvSpPr>
        <p:spPr>
          <a:xfrm>
            <a:off x="731520" y="48188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Lifting facial com preenchedores: raciocínio anatômico e estrutural</a:t>
            </a:r>
            <a:endParaRPr lang="en-US" sz="2400" dirty="0"/>
          </a:p>
        </p:txBody>
      </p:sp>
      <p:sp>
        <p:nvSpPr>
          <p:cNvPr id="12" name="Fio 5"/>
          <p:cNvSpPr/>
          <p:nvPr/>
        </p:nvSpPr>
        <p:spPr>
          <a:xfrm>
            <a:off x="731520" y="5477256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Módulo 5"/>
          <p:cNvSpPr txBox="1"/>
          <p:nvPr/>
        </p:nvSpPr>
        <p:spPr>
          <a:xfrm>
            <a:off x="731520" y="560527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Full face: planejamento anatômico, segurança e naturalidade</a:t>
            </a:r>
            <a:endParaRPr lang="en-US" sz="2400" dirty="0"/>
          </a:p>
        </p:txBody>
      </p:sp>
      <p:sp>
        <p:nvSpPr>
          <p:cNvPr id="14" name="Fio final"/>
          <p:cNvSpPr/>
          <p:nvPr/>
        </p:nvSpPr>
        <p:spPr>
          <a:xfrm>
            <a:off x="731520" y="626364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Da teoria à prática</a:t>
            </a:r>
            <a:endParaRPr lang="en-US" sz="4400" dirty="0"/>
          </a:p>
        </p:txBody>
      </p:sp>
      <p:sp>
        <p:nvSpPr>
          <p:cNvPr id="3" name="Cartão Boston"/>
          <p:cNvSpPr/>
          <p:nvPr/>
        </p:nvSpPr>
        <p:spPr>
          <a:xfrm>
            <a:off x="731520" y="2011680"/>
            <a:ext cx="5239512" cy="3840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1887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Boston</a:t>
            </a:r>
            <a:endParaRPr lang="en-US" sz="4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1887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Teoria e anatomia demonstrativa</a:t>
            </a:r>
            <a:endParaRPr lang="en-US" sz="1600" dirty="0"/>
          </a:p>
        </p:txBody>
      </p:sp>
      <p:sp>
        <p:nvSpPr>
          <p:cNvPr id="6" name="Boston texto"/>
          <p:cNvSpPr txBox="1"/>
          <p:nvPr/>
        </p:nvSpPr>
        <p:spPr>
          <a:xfrm>
            <a:off x="11887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3 dias em ambiente acadêmico: aulas científicas, anatomy review com anatomista e demonstração de dissecação.</a:t>
            </a:r>
            <a:endParaRPr lang="en-US" sz="1400" dirty="0"/>
          </a:p>
        </p:txBody>
      </p:sp>
      <p:sp>
        <p:nvSpPr>
          <p:cNvPr id="7" name="Cartão Miami"/>
          <p:cNvSpPr/>
          <p:nvPr/>
        </p:nvSpPr>
        <p:spPr>
          <a:xfrm>
            <a:off x="6217920" y="2011680"/>
            <a:ext cx="5239512" cy="3840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751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4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751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Prática real e hands-on</a:t>
            </a:r>
            <a:endParaRPr lang="en-US" sz="16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751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19, 20 e 21 de maio de 2027, em laboratório de specimen: anatomia aplicada e prática supervisionada dos procedimentos.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685800"/>
            <a:ext cx="3182112" cy="547725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2B2A29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poder do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Posicionamento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874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Um programa realizado em Boston e Miami reúne, além do conteúdo técnico: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265176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tem 1 título"/>
          <p:cNvSpPr txBox="1"/>
          <p:nvPr/>
        </p:nvSpPr>
        <p:spPr>
          <a:xfrm>
            <a:off x="731520" y="2788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Doutores da estética</a:t>
            </a:r>
            <a:endParaRPr lang="en-US" sz="2400" dirty="0"/>
          </a:p>
        </p:txBody>
      </p:sp>
      <p:sp>
        <p:nvSpPr>
          <p:cNvPr id="8" name="Item 1 texto"/>
          <p:cNvSpPr txBox="1"/>
          <p:nvPr/>
        </p:nvSpPr>
        <p:spPr>
          <a:xfrm>
            <a:off x="731520" y="32004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nacionais e internacionais</a:t>
            </a:r>
            <a:endParaRPr lang="en-US" sz="1400" dirty="0"/>
          </a:p>
        </p:txBody>
      </p:sp>
      <p:sp>
        <p:nvSpPr>
          <p:cNvPr id="9" name="Fio 2"/>
          <p:cNvSpPr/>
          <p:nvPr/>
        </p:nvSpPr>
        <p:spPr>
          <a:xfrm>
            <a:off x="731520" y="365760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Item 2 título"/>
          <p:cNvSpPr txBox="1"/>
          <p:nvPr/>
        </p:nvSpPr>
        <p:spPr>
          <a:xfrm>
            <a:off x="731520" y="37947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Convidados</a:t>
            </a:r>
            <a:endParaRPr lang="en-US" sz="2400" dirty="0"/>
          </a:p>
        </p:txBody>
      </p:sp>
      <p:sp>
        <p:nvSpPr>
          <p:cNvPr id="11" name="Item 2 texto"/>
          <p:cNvSpPr txBox="1"/>
          <p:nvPr/>
        </p:nvSpPr>
        <p:spPr>
          <a:xfrm>
            <a:off x="731520" y="4206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 cases reais de sucesso na estética e no empreendedorismo</a:t>
            </a:r>
            <a:endParaRPr lang="en-US" sz="1400" dirty="0"/>
          </a:p>
        </p:txBody>
      </p:sp>
      <p:sp>
        <p:nvSpPr>
          <p:cNvPr id="12" name="Fio 3"/>
          <p:cNvSpPr/>
          <p:nvPr/>
        </p:nvSpPr>
        <p:spPr>
          <a:xfrm>
            <a:off x="731520" y="466344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Item 3 título"/>
          <p:cNvSpPr txBox="1"/>
          <p:nvPr/>
        </p:nvSpPr>
        <p:spPr>
          <a:xfrm>
            <a:off x="73152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Palestrantes</a:t>
            </a:r>
            <a:endParaRPr lang="en-US" sz="2400" dirty="0"/>
          </a:p>
        </p:txBody>
      </p:sp>
      <p:sp>
        <p:nvSpPr>
          <p:cNvPr id="14" name="Item 3 texto"/>
          <p:cNvSpPr txBox="1"/>
          <p:nvPr/>
        </p:nvSpPr>
        <p:spPr>
          <a:xfrm>
            <a:off x="731520" y="5212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que atuam com carreira, posicionamento e autoridade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7607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a turma" descr="Turma da Formação Internacional reunida em uma escadaria, de uniforme vinho, segurando certificados e uma bandeira de Harv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Quem já viveu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920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Turma da Formação Internacional na etapa de Boston, com os certificados em mãos.</a:t>
            </a:r>
            <a:endParaRPr lang="en-US" sz="1700" dirty="0"/>
          </a:p>
        </p:txBody>
      </p:sp>
      <p:sp>
        <p:nvSpPr>
          <p:cNvPr id="5" name="Fio"/>
          <p:cNvSpPr/>
          <p:nvPr/>
        </p:nvSpPr>
        <p:spPr>
          <a:xfrm>
            <a:off x="731520" y="397764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próxima etapa é em Miami.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754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19, 20 e 21 de maio de 2027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resultado na prática</a:t>
            </a:r>
            <a:endParaRPr lang="en-US" sz="44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057400"/>
            <a:ext cx="8229600" cy="246888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1984248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 Miami</a:t>
            </a:r>
            <a:endParaRPr lang="en-US" sz="2400" dirty="0"/>
          </a:p>
        </p:txBody>
      </p:sp>
      <p:sp>
        <p:nvSpPr>
          <p:cNvPr id="3" name="Chamada"/>
          <p:cNvSpPr txBox="1"/>
          <p:nvPr/>
        </p:nvSpPr>
        <p:spPr>
          <a:xfrm>
            <a:off x="731520" y="16002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Garanta sua vaga</a:t>
            </a:r>
            <a:endParaRPr lang="en-US" sz="6400" dirty="0"/>
          </a:p>
        </p:txBody>
      </p:sp>
      <p:sp>
        <p:nvSpPr>
          <p:cNvPr id="4" name="Data final"/>
          <p:cNvSpPr txBox="1"/>
          <p:nvPr/>
        </p:nvSpPr>
        <p:spPr>
          <a:xfrm>
            <a:off x="73152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Vagas e investimento com a nossa equipe.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420624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nstagram"/>
          <p:cNvSpPr txBox="1"/>
          <p:nvPr/>
        </p:nvSpPr>
        <p:spPr>
          <a:xfrm>
            <a:off x="731520" y="43434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@dra.rosanaa</a:t>
            </a:r>
            <a:endParaRPr lang="en-US" sz="1300" dirty="0"/>
          </a:p>
        </p:txBody>
      </p:sp>
      <p:sp>
        <p:nvSpPr>
          <p:cNvPr id="8" name="Fio 2"/>
          <p:cNvSpPr/>
          <p:nvPr/>
        </p:nvSpPr>
        <p:spPr>
          <a:xfrm>
            <a:off x="731520" y="493776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WhatsApp"/>
          <p:cNvSpPr txBox="1"/>
          <p:nvPr/>
        </p:nvSpPr>
        <p:spPr>
          <a:xfrm>
            <a:off x="731520" y="5074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1800" u="sng" dirty="0">
                <a:solidFill>
                  <a:schemeClr val="tx1"/>
                </a:solidFill>
                <a:hlinkClick r:id="rId1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300" dirty="0"/>
          </a:p>
        </p:txBody>
      </p:sp>
      <p:sp>
        <p:nvSpPr>
          <p:cNvPr id="10" name="Fio 3"/>
          <p:cNvSpPr/>
          <p:nvPr/>
        </p:nvSpPr>
        <p:spPr>
          <a:xfrm>
            <a:off x="731520" y="566928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Painel vinho"/>
          <p:cNvSpPr/>
          <p:nvPr/>
        </p:nvSpPr>
        <p:spPr>
          <a:xfrm>
            <a:off x="8001000" y="0"/>
            <a:ext cx="4190695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undo QR"/>
          <p:cNvSpPr/>
          <p:nvPr/>
        </p:nvSpPr>
        <p:spPr>
          <a:xfrm>
            <a:off x="8595360" y="1417320"/>
            <a:ext cx="3017520" cy="30175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743200" cy="27432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9536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300" dirty="0"/>
          </a:p>
        </p:txBody>
      </p:sp>
      <p:pic>
        <p:nvPicPr>
          <p:cNvPr id="15" name="Logo" descr="Logo Dra. Rosana Vecchi Cal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5532120"/>
            <a:ext cx="1005840" cy="100584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2B2A29"/>
      </a:dk1>
      <a:lt1>
        <a:srgbClr val="FFFFFF"/>
      </a:lt1>
      <a:dk2>
        <a:srgbClr val="7D7771"/>
      </a:dk2>
      <a:lt2>
        <a:srgbClr val="F6F3EE"/>
      </a:lt2>
      <a:accent1>
        <a:srgbClr val="5E1A2A"/>
      </a:accent1>
      <a:accent2>
        <a:srgbClr val="B49A74"/>
      </a:accent2>
      <a:accent3>
        <a:srgbClr val="E7E1D8"/>
      </a:accent3>
      <a:accent4>
        <a:srgbClr val="D9C9C3"/>
      </a:accent4>
      <a:accent5>
        <a:srgbClr val="47131F"/>
      </a:accent5>
      <a:accent6>
        <a:srgbClr val="FBF9F6"/>
      </a:accent6>
      <a:hlink>
        <a:srgbClr val="5E1A2A"/>
      </a:hlink>
      <a:folHlink>
        <a:srgbClr val="47131F"/>
      </a:folHlink>
    </a:clrScheme>
    <a:fontScheme name="Formação Internacional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2026-10-08T14:18:43Z</dcterms:created>
  <dcterms:modified xsi:type="dcterms:W3CDTF">2026-10-08T14:18:43Z</dcterms:modified>
</cp:coreProperties>
</file>