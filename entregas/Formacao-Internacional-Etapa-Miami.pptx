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263382f-3e44-32ef-df8c-44d5ba2547cc}">
          <p14:sldIdLst>
            <p14:sldId id="256"/>
            <p14:sldId id="257"/>
            <p14:sldId id="258"/>
          </p14:sldIdLst>
        </p14:section>
        <p14:section name="A etapa" id="{cdec921f-a21a-86f1-21f6-9e8ceff42764}">
          <p14:sldIdLst>
            <p14:sldId id="259"/>
            <p14:sldId id="260"/>
            <p14:sldId id="261"/>
          </p14:sldIdLst>
        </p14:section>
        <p14:section name="Pessoas" id="{7ba98e77-765d-1a48-8ce3-7898d80fa773}">
          <p14:sldIdLst>
            <p14:sldId id="262"/>
            <p14:sldId id="263"/>
            <p14:sldId id="264"/>
          </p14:sldIdLst>
        </p14:section>
        <p14:section name="Inscrição" id="{d0544a75-e3e1-f894-360a-37270c20464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Para abrir com vídeo, insira o vídeo atrás do texto (Inserir &gt; Vídeo) e envie para trás (Organizar &gt; Enviar para trás).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 (laboratório, Miami ou o vídeo 3D das camadas da pele). Depois de inserir: aba Reprodução &gt; Iniciar: Automaticamente. Para vídeo de fundo sem som, marque também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a turma e o evento da foto. Antes de divulgar fora da turma, garanta a autorização de uso de imagem das pessoas que aparecem.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que a aluna autorizou o uso do relato antes de divulgar este material fora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4" Type="http://schemas.openxmlformats.org/officeDocument/2006/relationships/hyperlink" Target="https://wa.me/5562985150061?text=Ol%C3%A1%2C%20quero%20saber%20mais%20do%20Programa%20de%20Forma%C3%A7%C3%A3o%20Internacional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5" Type="http://schemas.openxmlformats.org/officeDocument/2006/relationships/image" Target="../media/image-10-3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Escurecer foto"/>
          <p:cNvSpPr/>
          <p:nvPr/>
        </p:nvSpPr>
        <p:spPr>
          <a:xfrm>
            <a:off x="7050024" y="0"/>
            <a:ext cx="5143500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91440"/>
            <a:ext cx="3108960" cy="2075688"/>
          </a:xfrm>
          <a:prstGeom prst="rect">
            <a:avLst/>
          </a:prstGeom>
        </p:spPr>
      </p:pic>
      <p:sp>
        <p:nvSpPr>
          <p:cNvPr id="5" name="Programa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4"/>
                </a:solidFill>
              </a:rPr>
              <a:t>PROGRAMA DE FORMAÇÃO INTERNACIONAL</a:t>
            </a:r>
            <a:endParaRPr lang="en-US" sz="1200" dirty="0"/>
          </a:p>
        </p:txBody>
      </p:sp>
      <p:sp>
        <p:nvSpPr>
          <p:cNvPr id="6" name="Etapa de"/>
          <p:cNvSpPr txBox="1"/>
          <p:nvPr/>
        </p:nvSpPr>
        <p:spPr>
          <a:xfrm>
            <a:off x="64008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spc="600" kern="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</a:t>
            </a:r>
            <a:endParaRPr lang="en-US" sz="2800" dirty="0"/>
          </a:p>
        </p:txBody>
      </p:sp>
      <p:sp>
        <p:nvSpPr>
          <p:cNvPr id="7" name="Título da capa"/>
          <p:cNvSpPr txBox="1"/>
          <p:nvPr/>
        </p:nvSpPr>
        <p:spPr>
          <a:xfrm>
            <a:off x="548640" y="26517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spc="6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11000" dirty="0"/>
          </a:p>
        </p:txBody>
      </p:sp>
      <p:sp>
        <p:nvSpPr>
          <p:cNvPr id="8" name="Subtítulo"/>
          <p:cNvSpPr txBox="1"/>
          <p:nvPr/>
        </p:nvSpPr>
        <p:spPr>
          <a:xfrm>
            <a:off x="64008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800" dirty="0"/>
          </a:p>
        </p:txBody>
      </p:sp>
      <p:sp>
        <p:nvSpPr>
          <p:cNvPr id="9" name="Data"/>
          <p:cNvSpPr txBox="1"/>
          <p:nvPr/>
        </p:nvSpPr>
        <p:spPr>
          <a:xfrm>
            <a:off x="640080" y="49377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pic>
        <p:nvPicPr>
          <p:cNvPr id="10" name="Logo" descr="Logo Dra. Rosana Vecchi Cal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Área do vídeo"/>
          <p:cNvSpPr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" name="Instrução do vídeo"/>
          <p:cNvSpPr txBox="1"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Insira aqui o vídeo</a:t>
            </a:r>
            <a:endParaRPr lang="en-US" sz="30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0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Prédios de Miami vistos da ru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MIAMI?</a:t>
            </a:r>
            <a:endParaRPr lang="en-US" sz="3200" dirty="0"/>
          </a:p>
        </p:txBody>
      </p:sp>
      <p:sp>
        <p:nvSpPr>
          <p:cNvPr id="4" name="Texto Miami"/>
          <p:cNvSpPr txBox="1"/>
          <p:nvPr/>
        </p:nvSpPr>
        <p:spPr>
          <a:xfrm>
            <a:off x="640080" y="192024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Nos Estados Unidos, laboratórios privados de anatomia oferecem estrutura para treinamento hands-on em specimen, a peça anatômica real. Em Miami, o conteúdo científico vira prática.</a:t>
            </a:r>
            <a:endParaRPr lang="en-US" sz="1700" dirty="0"/>
          </a:p>
        </p:txBody>
      </p:sp>
      <p:sp>
        <p:nvSpPr>
          <p:cNvPr id="5" name="Lista Miami"/>
          <p:cNvSpPr txBox="1"/>
          <p:nvPr/>
        </p:nvSpPr>
        <p:spPr>
          <a:xfrm>
            <a:off x="640080" y="352044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Imersão de 3 dias com prática real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Laboratórios privados preparados para hands-on avançado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Anatomia aplicada direto na peça anatômica</a:t>
            </a:r>
            <a:endParaRPr lang="en-US" sz="1700" dirty="0"/>
          </a:p>
        </p:txBody>
      </p:sp>
      <p:sp>
        <p:nvSpPr>
          <p:cNvPr id="6" name="Data"/>
          <p:cNvSpPr txBox="1"/>
          <p:nvPr/>
        </p:nvSpPr>
        <p:spPr>
          <a:xfrm>
            <a:off x="640080" y="53492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PROGRAMAÇÃO PRÁTICA</a:t>
            </a:r>
            <a:endParaRPr lang="en-US" sz="3200" dirty="0"/>
          </a:p>
        </p:txBody>
      </p:sp>
      <p:sp>
        <p:nvSpPr>
          <p:cNvPr id="3" name="Subtítulo"/>
          <p:cNvSpPr txBox="1"/>
          <p:nvPr/>
        </p:nvSpPr>
        <p:spPr>
          <a:xfrm>
            <a:off x="640080" y="1463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Anatomia aplicada e hands-on</a:t>
            </a:r>
            <a:endParaRPr lang="en-US" sz="1700" dirty="0"/>
          </a:p>
        </p:txBody>
      </p:sp>
      <p:sp>
        <p:nvSpPr>
          <p:cNvPr id="4" name="Módulo 1"/>
          <p:cNvSpPr txBox="1"/>
          <p:nvPr/>
        </p:nvSpPr>
        <p:spPr>
          <a:xfrm>
            <a:off x="640080" y="2377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injetáveis</a:t>
            </a:r>
            <a:endParaRPr lang="en-US" sz="2000" dirty="0"/>
          </a:p>
        </p:txBody>
      </p:sp>
      <p:sp>
        <p:nvSpPr>
          <p:cNvPr id="5" name="Divisória 1"/>
          <p:cNvSpPr/>
          <p:nvPr/>
        </p:nvSpPr>
        <p:spPr>
          <a:xfrm>
            <a:off x="640080" y="309067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" name="Módulo 2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Anatomia avançada de cabeça e pescoço aplicada a fios faciais</a:t>
            </a:r>
            <a:endParaRPr lang="en-US" sz="2000" dirty="0"/>
          </a:p>
        </p:txBody>
      </p:sp>
      <p:sp>
        <p:nvSpPr>
          <p:cNvPr id="7" name="Divisória 2"/>
          <p:cNvSpPr/>
          <p:nvPr/>
        </p:nvSpPr>
        <p:spPr>
          <a:xfrm>
            <a:off x="640080" y="395935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Módulo 3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Bioestimuladores faciais e corporais: fundamentos, indicações e limites</a:t>
            </a:r>
            <a:endParaRPr lang="en-US" sz="2000" dirty="0"/>
          </a:p>
        </p:txBody>
      </p:sp>
      <p:sp>
        <p:nvSpPr>
          <p:cNvPr id="9" name="Divisória 3"/>
          <p:cNvSpPr/>
          <p:nvPr/>
        </p:nvSpPr>
        <p:spPr>
          <a:xfrm>
            <a:off x="640080" y="482803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Módulo 4"/>
          <p:cNvSpPr txBox="1"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Lifting facial com preenchedores: raciocínio anatômico e estrutural</a:t>
            </a:r>
            <a:endParaRPr lang="en-US" sz="2000" dirty="0"/>
          </a:p>
        </p:txBody>
      </p:sp>
      <p:sp>
        <p:nvSpPr>
          <p:cNvPr id="11" name="Divisória 4"/>
          <p:cNvSpPr/>
          <p:nvPr/>
        </p:nvSpPr>
        <p:spPr>
          <a:xfrm>
            <a:off x="640080" y="5696712"/>
            <a:ext cx="10881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Módulo 5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Full face: planejamento anatômico, segurança e naturalidade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TEORIA À PRÁTICA</a:t>
            </a:r>
            <a:endParaRPr lang="en-US" sz="3200" dirty="0"/>
          </a:p>
        </p:txBody>
      </p:sp>
      <p:sp>
        <p:nvSpPr>
          <p:cNvPr id="3" name="Cartão Boston"/>
          <p:cNvSpPr/>
          <p:nvPr/>
        </p:nvSpPr>
        <p:spPr>
          <a:xfrm>
            <a:off x="640080" y="2103120"/>
            <a:ext cx="5303520" cy="35661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051560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Boston</a:t>
            </a:r>
            <a:endParaRPr lang="en-US" sz="3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051560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Teoria e anatomia demonstrativa</a:t>
            </a:r>
            <a:endParaRPr lang="en-US" sz="1800" dirty="0"/>
          </a:p>
        </p:txBody>
      </p:sp>
      <p:sp>
        <p:nvSpPr>
          <p:cNvPr id="6" name="Boston texto"/>
          <p:cNvSpPr txBox="1"/>
          <p:nvPr/>
        </p:nvSpPr>
        <p:spPr>
          <a:xfrm>
            <a:off x="1051560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3 dias em ambiente acadêmico: aulas científicas, anatomy review com anatomista e demonstração de dissecação.</a:t>
            </a:r>
            <a:endParaRPr lang="en-US" sz="1500" dirty="0"/>
          </a:p>
        </p:txBody>
      </p:sp>
      <p:sp>
        <p:nvSpPr>
          <p:cNvPr id="7" name="Cartão Miami"/>
          <p:cNvSpPr/>
          <p:nvPr/>
        </p:nvSpPr>
        <p:spPr>
          <a:xfrm>
            <a:off x="6245352" y="2103120"/>
            <a:ext cx="5303520" cy="35661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56832" y="24688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3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56832" y="3246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Prática real e hands-on</a:t>
            </a:r>
            <a:endParaRPr lang="en-US" sz="18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56832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19, 20 e 21 de maio de 2027, em laboratório de specimen: anatomia aplicada e prática supervisionada dos procedimentos.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548640"/>
            <a:ext cx="3182112" cy="5477256"/>
          </a:xfrm>
          <a:prstGeom prst="rect">
            <a:avLst/>
          </a:prstGeom>
        </p:spPr>
      </p:pic>
      <p:sp>
        <p:nvSpPr>
          <p:cNvPr id="3" name="Pré-título"/>
          <p:cNvSpPr txBox="1"/>
          <p:nvPr/>
        </p:nvSpPr>
        <p:spPr>
          <a:xfrm>
            <a:off x="640080" y="4114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poder do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POSICIONAMENTO</a:t>
            </a:r>
            <a:endParaRPr lang="en-US" sz="3200" dirty="0"/>
          </a:p>
        </p:txBody>
      </p:sp>
      <p:sp>
        <p:nvSpPr>
          <p:cNvPr id="5" name="Introdução posicionamento"/>
          <p:cNvSpPr txBox="1"/>
          <p:nvPr/>
        </p:nvSpPr>
        <p:spPr>
          <a:xfrm>
            <a:off x="640080" y="1920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Um programa realizado em Boston e Miami reúne, além do conteúdo técnico:</a:t>
            </a:r>
            <a:endParaRPr lang="en-US" sz="1600" dirty="0"/>
          </a:p>
        </p:txBody>
      </p:sp>
      <p:sp>
        <p:nvSpPr>
          <p:cNvPr id="6" name="Item 1 título"/>
          <p:cNvSpPr txBox="1"/>
          <p:nvPr/>
        </p:nvSpPr>
        <p:spPr>
          <a:xfrm>
            <a:off x="640080" y="2697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Doutores da estética</a:t>
            </a:r>
            <a:endParaRPr lang="en-US" sz="2000" dirty="0"/>
          </a:p>
        </p:txBody>
      </p:sp>
      <p:sp>
        <p:nvSpPr>
          <p:cNvPr id="7" name="Item 1 texto"/>
          <p:cNvSpPr txBox="1"/>
          <p:nvPr/>
        </p:nvSpPr>
        <p:spPr>
          <a:xfrm>
            <a:off x="640080" y="30815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nacionais e internacionais</a:t>
            </a:r>
            <a:endParaRPr lang="en-US" sz="1500" dirty="0"/>
          </a:p>
        </p:txBody>
      </p:sp>
      <p:sp>
        <p:nvSpPr>
          <p:cNvPr id="8" name="Item 2 título"/>
          <p:cNvSpPr txBox="1"/>
          <p:nvPr/>
        </p:nvSpPr>
        <p:spPr>
          <a:xfrm>
            <a:off x="640080" y="3657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Convidados</a:t>
            </a:r>
            <a:endParaRPr lang="en-US" sz="2000" dirty="0"/>
          </a:p>
        </p:txBody>
      </p:sp>
      <p:sp>
        <p:nvSpPr>
          <p:cNvPr id="9" name="Item 2 texto"/>
          <p:cNvSpPr txBox="1"/>
          <p:nvPr/>
        </p:nvSpPr>
        <p:spPr>
          <a:xfrm>
            <a:off x="640080" y="40416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com cases reais de sucesso na estética e no empreendedorismo</a:t>
            </a:r>
            <a:endParaRPr lang="en-US" sz="1500" dirty="0"/>
          </a:p>
        </p:txBody>
      </p:sp>
      <p:sp>
        <p:nvSpPr>
          <p:cNvPr id="10" name="Item 3 título"/>
          <p:cNvSpPr txBox="1"/>
          <p:nvPr/>
        </p:nvSpPr>
        <p:spPr>
          <a:xfrm>
            <a:off x="640080" y="4617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Palestrantes</a:t>
            </a:r>
            <a:endParaRPr lang="en-US" sz="2000" dirty="0"/>
          </a:p>
        </p:txBody>
      </p:sp>
      <p:sp>
        <p:nvSpPr>
          <p:cNvPr id="11" name="Item 3 texto"/>
          <p:cNvSpPr txBox="1"/>
          <p:nvPr/>
        </p:nvSpPr>
        <p:spPr>
          <a:xfrm>
            <a:off x="640080" y="5001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que atuam com carreira, posicionamento e autoridade</a:t>
            </a:r>
            <a:endParaRPr lang="en-US" sz="1500" dirty="0"/>
          </a:p>
        </p:txBody>
      </p:sp>
      <p:sp>
        <p:nvSpPr>
          <p:cNvPr id="12" name="Nota posicionamento"/>
          <p:cNvSpPr txBox="1"/>
          <p:nvPr/>
        </p:nvSpPr>
        <p:spPr>
          <a:xfrm>
            <a:off x="640080" y="5623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JÁ VIVEU</a:t>
            </a:r>
            <a:endParaRPr lang="en-US" sz="3200" dirty="0"/>
          </a:p>
        </p:txBody>
      </p:sp>
      <p:sp>
        <p:nvSpPr>
          <p:cNvPr id="4" name="Texto turma"/>
          <p:cNvSpPr txBox="1"/>
          <p:nvPr/>
        </p:nvSpPr>
        <p:spPr>
          <a:xfrm>
            <a:off x="640080" y="192024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Turma da Formação Internacional na etapa de Boston, com os certificados em mãos.</a:t>
            </a:r>
            <a:endParaRPr lang="en-US" sz="2000" dirty="0"/>
          </a:p>
        </p:txBody>
      </p:sp>
      <p:sp>
        <p:nvSpPr>
          <p:cNvPr id="5" name="Chamada turma"/>
          <p:cNvSpPr txBox="1"/>
          <p:nvPr/>
        </p:nvSpPr>
        <p:spPr>
          <a:xfrm>
            <a:off x="6400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próxima etapa é em Miami.</a:t>
            </a:r>
            <a:endParaRPr lang="en-US" sz="2600" dirty="0"/>
          </a:p>
        </p:txBody>
      </p:sp>
      <p:sp>
        <p:nvSpPr>
          <p:cNvPr id="6" name="Data turma"/>
          <p:cNvSpPr txBox="1"/>
          <p:nvPr/>
        </p:nvSpPr>
        <p:spPr>
          <a:xfrm>
            <a:off x="640080" y="48006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RESULTADO NA PRÁTICA</a:t>
            </a:r>
            <a:endParaRPr lang="en-US" sz="32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194560"/>
            <a:ext cx="8229600" cy="2468880"/>
          </a:xfrm>
          <a:prstGeom prst="rect">
            <a:avLst/>
          </a:prstGeom>
        </p:spPr>
      </p:pic>
      <p:sp>
        <p:nvSpPr>
          <p:cNvPr id="4" name="Legenda depoimento"/>
          <p:cNvSpPr txBox="1"/>
          <p:nvPr/>
        </p:nvSpPr>
        <p:spPr>
          <a:xfrm>
            <a:off x="1984248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ndeira" descr="Bandeira dos Estados Unidos tremul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28600"/>
            <a:ext cx="2743200" cy="1828800"/>
          </a:xfrm>
          <a:prstGeom prst="rect">
            <a:avLst/>
          </a:prstGeom>
        </p:spPr>
      </p:pic>
      <p:pic>
        <p:nvPicPr>
          <p:cNvPr id="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240280"/>
            <a:ext cx="2743200" cy="2743200"/>
          </a:xfrm>
          <a:prstGeom prst="rect">
            <a:avLst/>
          </a:prstGeom>
        </p:spPr>
      </p:pic>
      <p:sp>
        <p:nvSpPr>
          <p:cNvPr id="4" name="Legenda QR"/>
          <p:cNvSpPr txBox="1"/>
          <p:nvPr/>
        </p:nvSpPr>
        <p:spPr>
          <a:xfrm>
            <a:off x="8549640" y="5120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200" dirty="0"/>
          </a:p>
        </p:txBody>
      </p:sp>
      <p:sp>
        <p:nvSpPr>
          <p:cNvPr id="5" name="Rótulo final"/>
          <p:cNvSpPr txBox="1"/>
          <p:nvPr/>
        </p:nvSpPr>
        <p:spPr>
          <a:xfrm>
            <a:off x="640080" y="1188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 Miami</a:t>
            </a:r>
            <a:endParaRPr lang="en-US" sz="2000" dirty="0"/>
          </a:p>
        </p:txBody>
      </p:sp>
      <p:sp>
        <p:nvSpPr>
          <p:cNvPr id="6" name="Chamada"/>
          <p:cNvSpPr txBox="1"/>
          <p:nvPr/>
        </p:nvSpPr>
        <p:spPr>
          <a:xfrm>
            <a:off x="640080" y="17830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Garanta sua vaga</a:t>
            </a:r>
            <a:endParaRPr lang="en-US" sz="5400" dirty="0"/>
          </a:p>
        </p:txBody>
      </p:sp>
      <p:sp>
        <p:nvSpPr>
          <p:cNvPr id="7" name="Data final"/>
          <p:cNvSpPr txBox="1"/>
          <p:nvPr/>
        </p:nvSpPr>
        <p:spPr>
          <a:xfrm>
            <a:off x="640080" y="2971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8" name="Texto final"/>
          <p:cNvSpPr txBox="1"/>
          <p:nvPr/>
        </p:nvSpPr>
        <p:spPr>
          <a:xfrm>
            <a:off x="640080" y="3520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Vagas e investimento com a nossa equipe.</a:t>
            </a:r>
            <a:endParaRPr lang="en-US" sz="1600" dirty="0"/>
          </a:p>
        </p:txBody>
      </p:sp>
      <p:sp>
        <p:nvSpPr>
          <p:cNvPr id="9" name="Instagram"/>
          <p:cNvSpPr txBox="1"/>
          <p:nvPr/>
        </p:nvSpPr>
        <p:spPr>
          <a:xfrm>
            <a:off x="6400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@dra.rosanaa</a:t>
            </a:r>
            <a:endParaRPr lang="en-US" sz="1600" dirty="0"/>
          </a:p>
        </p:txBody>
      </p:sp>
      <p:sp>
        <p:nvSpPr>
          <p:cNvPr id="10" name="WhatsApp"/>
          <p:cNvSpPr txBox="1"/>
          <p:nvPr/>
        </p:nvSpPr>
        <p:spPr>
          <a:xfrm>
            <a:off x="64008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2000" u="sng" dirty="0">
                <a:solidFill>
                  <a:schemeClr val="bg1"/>
                </a:solidFill>
                <a:hlinkClick r:id="rId4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600" dirty="0"/>
          </a:p>
        </p:txBody>
      </p:sp>
      <p:pic>
        <p:nvPicPr>
          <p:cNvPr id="11" name="Logo" descr="Logo Dra. Rosana Vecchi Cald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0B0B0C"/>
      </a:dk1>
      <a:lt1>
        <a:srgbClr val="FFFFFF"/>
      </a:lt1>
      <a:dk2>
        <a:srgbClr val="8E8C88"/>
      </a:dk2>
      <a:lt2>
        <a:srgbClr val="F2EFEA"/>
      </a:lt2>
      <a:accent1>
        <a:srgbClr val="B3182F"/>
      </a:accent1>
      <a:accent2>
        <a:srgbClr val="7E1222"/>
      </a:accent2>
      <a:accent3>
        <a:srgbClr val="161618"/>
      </a:accent3>
      <a:accent4>
        <a:srgbClr val="BDBAB4"/>
      </a:accent4>
      <a:accent5>
        <a:srgbClr val="2A2A2D"/>
      </a:accent5>
      <a:accent6>
        <a:srgbClr val="E9E4DC"/>
      </a:accent6>
      <a:hlink>
        <a:srgbClr val="B3182F"/>
      </a:hlink>
      <a:folHlink>
        <a:srgbClr val="7E1222"/>
      </a:folHlink>
    </a:clrScheme>
    <a:fontScheme name="Formação Internacion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2026-10-08T13:39:43Z</dcterms:created>
  <dcterms:modified xsi:type="dcterms:W3CDTF">2026-10-08T13:39:43Z</dcterms:modified>
</cp:coreProperties>
</file>